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D9E2"/>
    <a:srgbClr val="D5CBD8"/>
    <a:srgbClr val="CC99FF"/>
    <a:srgbClr val="755882"/>
    <a:srgbClr val="9274A0"/>
    <a:srgbClr val="C7B9CB"/>
    <a:srgbClr val="423149"/>
    <a:srgbClr val="654C70"/>
    <a:srgbClr val="B29EB8"/>
    <a:srgbClr val="A48B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139624-C311-1A74-CB92-EEA0BB0C1C6E}" v="106" dt="2026-04-03T04:52:39.4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916" autoAdjust="0"/>
    <p:restoredTop sz="92491" autoAdjust="0"/>
  </p:normalViewPr>
  <p:slideViewPr>
    <p:cSldViewPr snapToGrid="0">
      <p:cViewPr>
        <p:scale>
          <a:sx n="50" d="100"/>
          <a:sy n="50" d="100"/>
        </p:scale>
        <p:origin x="144" y="-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1E7F9-983F-4EBA-8B82-F50A297EF965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40C68-88B0-4F42-A5F8-509C290E5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21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1pPr>
    <a:lvl2pPr marL="347057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2pPr>
    <a:lvl3pPr marL="694110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3pPr>
    <a:lvl4pPr marL="1041166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4pPr>
    <a:lvl5pPr marL="1388223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5pPr>
    <a:lvl6pPr marL="1735280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6pPr>
    <a:lvl7pPr marL="2082333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7pPr>
    <a:lvl8pPr marL="2429390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8pPr>
    <a:lvl9pPr marL="2776446" algn="l" defTabSz="694110" rtl="0" eaLnBrk="1" latinLnBrk="0" hangingPunct="1">
      <a:defRPr sz="91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040C68-88B0-4F42-A5F8-509C290E50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40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2" y="0"/>
            <a:ext cx="32920837" cy="219456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18962" y="5797963"/>
            <a:ext cx="19111918" cy="4849706"/>
          </a:xfrm>
        </p:spPr>
        <p:txBody>
          <a:bodyPr anchor="b">
            <a:noAutofit/>
          </a:bodyPr>
          <a:lstStyle>
            <a:lvl1pPr algn="ctr">
              <a:defRPr sz="72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18962" y="11514648"/>
            <a:ext cx="19111918" cy="4408483"/>
          </a:xfrm>
        </p:spPr>
        <p:txBody>
          <a:bodyPr anchor="t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1835501" y="16174726"/>
            <a:ext cx="2423794" cy="89408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918962" y="16174726"/>
            <a:ext cx="14633496" cy="8940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4542343" y="16174726"/>
            <a:ext cx="1488539" cy="89408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271372" y="11108253"/>
            <a:ext cx="1840709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521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4602474" y="7540032"/>
            <a:ext cx="2374392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23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2474" y="5252522"/>
            <a:ext cx="23743922" cy="5832045"/>
          </a:xfrm>
        </p:spPr>
        <p:txBody>
          <a:bodyPr anchor="b">
            <a:normAutofit/>
          </a:bodyPr>
          <a:lstStyle>
            <a:lvl1pPr algn="ctr">
              <a:defRPr sz="6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02474" y="11951550"/>
            <a:ext cx="23743922" cy="3488048"/>
          </a:xfrm>
        </p:spPr>
        <p:txBody>
          <a:bodyPr anchor="t">
            <a:normAutofit/>
          </a:bodyPr>
          <a:lstStyle>
            <a:lvl1pPr marL="0" indent="0" algn="ctr">
              <a:buNone/>
              <a:defRPr sz="36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4602479" y="11518054"/>
            <a:ext cx="2374391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559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4602474" y="7540032"/>
            <a:ext cx="2374392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6718" y="2929080"/>
            <a:ext cx="24475442" cy="41723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6718" y="7958937"/>
            <a:ext cx="12015216" cy="110313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22547" y="7958937"/>
            <a:ext cx="12015216" cy="110313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8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6725" y="8507306"/>
            <a:ext cx="12015216" cy="1844038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6725" y="10378442"/>
            <a:ext cx="12015216" cy="866119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10595" y="8507306"/>
            <a:ext cx="12015216" cy="1844038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accent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10595" y="10378442"/>
            <a:ext cx="12015216" cy="866119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4602478" y="7534944"/>
            <a:ext cx="2374392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944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6716" y="2929080"/>
            <a:ext cx="24475446" cy="417237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4602478" y="7534944"/>
            <a:ext cx="2374392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922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94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6714" y="4443309"/>
            <a:ext cx="9132473" cy="4389120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32225" y="3142824"/>
            <a:ext cx="13879940" cy="15659952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6714" y="9699408"/>
            <a:ext cx="9132473" cy="7802893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4602478" y="9320106"/>
            <a:ext cx="840093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7959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6714" y="6028262"/>
            <a:ext cx="13075927" cy="4389120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050" y="3305386"/>
            <a:ext cx="10546067" cy="15334835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6716" y="10417382"/>
            <a:ext cx="13075924" cy="5852160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031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6718" y="15409328"/>
            <a:ext cx="24475442" cy="1813562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94536" y="3305387"/>
            <a:ext cx="25529335" cy="10756061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6718" y="17222890"/>
            <a:ext cx="24475442" cy="1579878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487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6718" y="2901994"/>
            <a:ext cx="24475442" cy="9913152"/>
          </a:xfrm>
        </p:spPr>
        <p:txBody>
          <a:bodyPr anchor="ctr">
            <a:normAutofit/>
          </a:bodyPr>
          <a:lstStyle>
            <a:lvl1pPr algn="ctr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6714" y="13682131"/>
            <a:ext cx="24475450" cy="5120646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4602476" y="13248637"/>
            <a:ext cx="2378313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43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3599" y="3142822"/>
            <a:ext cx="23040900" cy="7586138"/>
          </a:xfrm>
        </p:spPr>
        <p:txBody>
          <a:bodyPr anchor="ctr">
            <a:normAutofit/>
          </a:bodyPr>
          <a:lstStyle>
            <a:lvl1pPr algn="ctr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760720" y="10728958"/>
            <a:ext cx="21214073" cy="2086186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700"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6707" y="13898882"/>
            <a:ext cx="24475457" cy="4903894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059890" y="2897159"/>
            <a:ext cx="1646348" cy="1871283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08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80613" y="9049184"/>
            <a:ext cx="1646348" cy="1871283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 algn="r"/>
            <a:r>
              <a:rPr lang="en-US" sz="108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602478" y="13248637"/>
            <a:ext cx="2374392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357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6728" y="10587459"/>
            <a:ext cx="24475421" cy="4700160"/>
          </a:xfrm>
        </p:spPr>
        <p:txBody>
          <a:bodyPr anchor="b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6725" y="15287619"/>
            <a:ext cx="24475428" cy="275328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6095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3898" y="3142822"/>
            <a:ext cx="22770605" cy="7179738"/>
          </a:xfrm>
        </p:spPr>
        <p:txBody>
          <a:bodyPr anchor="ctr">
            <a:normAutofit/>
          </a:bodyPr>
          <a:lstStyle>
            <a:lvl1pPr algn="ctr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4236725" y="11645798"/>
            <a:ext cx="24475428" cy="283829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6714" y="14494934"/>
            <a:ext cx="24475450" cy="430784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685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161018" y="2870064"/>
            <a:ext cx="1646348" cy="1871283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39268" y="8344730"/>
            <a:ext cx="1646348" cy="1871283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4602478" y="10972800"/>
            <a:ext cx="2374392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636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6714" y="3142821"/>
            <a:ext cx="24475442" cy="73422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4800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4236725" y="11411712"/>
            <a:ext cx="24475428" cy="2896819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6718" y="14305282"/>
            <a:ext cx="24475442" cy="4497494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685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4602490" y="10972800"/>
            <a:ext cx="2378311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9454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6714" y="7968433"/>
            <a:ext cx="24475450" cy="10834346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4602478" y="7534944"/>
            <a:ext cx="2378312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3341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884001" y="2901995"/>
            <a:ext cx="5828148" cy="15900784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6723" y="2901995"/>
            <a:ext cx="17695832" cy="15900778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22483843" y="2901995"/>
            <a:ext cx="0" cy="15900778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156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" y="0"/>
            <a:ext cx="32948881" cy="219456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6718" y="2929080"/>
            <a:ext cx="24475442" cy="417237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6714" y="7968434"/>
            <a:ext cx="24475450" cy="110239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84014" y="19073706"/>
            <a:ext cx="4133819" cy="894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36716" y="19073706"/>
            <a:ext cx="18376801" cy="894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288328" y="19073706"/>
            <a:ext cx="1423836" cy="894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018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3" Type="http://schemas.openxmlformats.org/officeDocument/2006/relationships/image" Target="../media/image7.jpeg"/><Relationship Id="rId12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7.png"/><Relationship Id="rId5" Type="http://schemas.openxmlformats.org/officeDocument/2006/relationships/image" Target="../media/image8.png"/><Relationship Id="rId15" Type="http://schemas.openxmlformats.org/officeDocument/2006/relationships/image" Target="../media/image13.png"/><Relationship Id="rId4" Type="http://schemas.openxmlformats.org/officeDocument/2006/relationships/image" Target="../media/image2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17"/>
          <p:cNvSpPr/>
          <p:nvPr/>
        </p:nvSpPr>
        <p:spPr>
          <a:xfrm>
            <a:off x="361241" y="17397333"/>
            <a:ext cx="8591882" cy="4390293"/>
          </a:xfrm>
          <a:prstGeom prst="rect">
            <a:avLst/>
          </a:prstGeom>
          <a:solidFill>
            <a:srgbClr val="D5CBD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20942155" y="4251007"/>
            <a:ext cx="11581322" cy="5646744"/>
          </a:xfrm>
          <a:prstGeom prst="rect">
            <a:avLst/>
          </a:prstGeom>
          <a:solidFill>
            <a:srgbClr val="D5CBD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endParaRPr lang="en-CA" dirty="0"/>
          </a:p>
          <a:p>
            <a:endParaRPr lang="en-CA" dirty="0"/>
          </a:p>
          <a:p>
            <a:endParaRPr lang="en-CA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CA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CA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CA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CA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CA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CA" sz="2400" dirty="0">
                <a:solidFill>
                  <a:schemeClr val="tx1"/>
                </a:solidFill>
                <a:latin typeface="Arial" panose="020B0604020202020204" pitchFamily="34" charset="0"/>
              </a:rPr>
              <a:t>Claude Haiku-4.5 (</a:t>
            </a:r>
            <a:r>
              <a:rPr lang="en-CA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vision+text</a:t>
            </a:r>
            <a:r>
              <a:rPr lang="en-CA" sz="2400" dirty="0">
                <a:solidFill>
                  <a:schemeClr val="tx1"/>
                </a:solidFill>
                <a:latin typeface="Arial" panose="020B0604020202020204" pitchFamily="34" charset="0"/>
              </a:rPr>
              <a:t>) correctly identifies misrepresentation and truncated axis misleaders but misclassifies 3D distortion as non-misleading — treating perspective effects as valid chart styling.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49879" y="4015019"/>
            <a:ext cx="11133814" cy="17387926"/>
          </a:xfrm>
          <a:prstGeom prst="rect">
            <a:avLst/>
          </a:prstGeom>
          <a:solidFill>
            <a:srgbClr val="D5CBD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3" name="TextBox 272"/>
          <p:cNvSpPr txBox="1"/>
          <p:nvPr/>
        </p:nvSpPr>
        <p:spPr>
          <a:xfrm>
            <a:off x="343477" y="4419920"/>
            <a:ext cx="8599755" cy="3693319"/>
          </a:xfrm>
          <a:prstGeom prst="rect">
            <a:avLst/>
          </a:prstGeom>
          <a:solidFill>
            <a:srgbClr val="D5CBD8">
              <a:alpha val="50000"/>
            </a:srgbClr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r>
              <a:rPr lang="en-CA" sz="2400" b="1" dirty="0"/>
              <a:t>86% of S&amp;P 500 companies</a:t>
            </a:r>
            <a:r>
              <a:rPr lang="en-CA" sz="2400" dirty="0"/>
              <a:t> include at least one misleading chart in their annual reports — truncated axes, selective time windows, or Non-GAAP metrics presented without GAAP context.</a:t>
            </a:r>
          </a:p>
          <a:p>
            <a:endParaRPr lang="en-CA" sz="2400" dirty="0"/>
          </a:p>
          <a:p>
            <a:r>
              <a:rPr lang="en-CA" sz="2400" dirty="0"/>
              <a:t>Non-GAAP prominence has been the </a:t>
            </a:r>
            <a:r>
              <a:rPr lang="en-CA" sz="2400" b="1" dirty="0"/>
              <a:t>#1 SEC comment letter topic for 9 consecutive years</a:t>
            </a:r>
            <a:r>
              <a:rPr lang="en-CA" sz="2400" dirty="0"/>
              <a:t>, yet detection remains entirely manual.</a:t>
            </a:r>
          </a:p>
          <a:p>
            <a:endParaRPr lang="en-CA" sz="2400" dirty="0"/>
          </a:p>
          <a:p>
            <a:r>
              <a:rPr lang="en-CA" sz="2400" dirty="0"/>
              <a:t>No existing work evaluates whether </a:t>
            </a:r>
            <a:r>
              <a:rPr lang="en-CA" sz="2400" b="1" dirty="0"/>
              <a:t>Vision-Language Models (VLMs)</a:t>
            </a:r>
            <a:r>
              <a:rPr lang="en-CA" sz="2400" dirty="0"/>
              <a:t> can automate this detection.</a:t>
            </a:r>
            <a:endParaRPr lang="en-US" sz="2400" dirty="0">
              <a:solidFill>
                <a:srgbClr val="423149"/>
              </a:solidFill>
              <a:latin typeface="Cambria" panose="02040503050406030204" pitchFamily="18" charset="0"/>
            </a:endParaRPr>
          </a:p>
          <a:p>
            <a:endParaRPr lang="en-US" sz="2400" dirty="0">
              <a:solidFill>
                <a:srgbClr val="423149"/>
              </a:solidFill>
              <a:latin typeface="Cambria" panose="02040503050406030204" pitchFamily="18" charset="0"/>
            </a:endParaRPr>
          </a:p>
        </p:txBody>
      </p:sp>
      <p:sp>
        <p:nvSpPr>
          <p:cNvPr id="262" name="TextBox 261"/>
          <p:cNvSpPr txBox="1"/>
          <p:nvPr/>
        </p:nvSpPr>
        <p:spPr>
          <a:xfrm>
            <a:off x="2179363" y="485497"/>
            <a:ext cx="2857308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 err="1">
                <a:solidFill>
                  <a:srgbClr val="423149"/>
                </a:solidFill>
                <a:latin typeface="Cambria" panose="02040503050406030204" pitchFamily="18" charset="0"/>
              </a:rPr>
              <a:t>FinChartAudit</a:t>
            </a:r>
            <a:r>
              <a:rPr lang="en-US" sz="5000" b="1" dirty="0">
                <a:solidFill>
                  <a:srgbClr val="423149"/>
                </a:solidFill>
                <a:latin typeface="Cambria" panose="02040503050406030204" pitchFamily="18" charset="0"/>
              </a:rPr>
              <a:t>: Detecting Misleading Financial Charts with Vision-Language Models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349629" y="3768504"/>
            <a:ext cx="8595360" cy="640080"/>
          </a:xfrm>
          <a:prstGeom prst="roundRect">
            <a:avLst>
              <a:gd name="adj" fmla="val 0"/>
            </a:avLst>
          </a:prstGeom>
          <a:solidFill>
            <a:srgbClr val="75588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4000" b="1" dirty="0">
                <a:solidFill>
                  <a:srgbClr val="ECE6EE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1. Background</a:t>
            </a:r>
            <a:endParaRPr lang="en-US" sz="4000" dirty="0">
              <a:solidFill>
                <a:srgbClr val="ECE6EE"/>
              </a:solidFill>
              <a:latin typeface="Cambria" panose="02040503050406030204" pitchFamily="18" charset="0"/>
            </a:endParaRPr>
          </a:p>
        </p:txBody>
      </p:sp>
      <p:sp>
        <p:nvSpPr>
          <p:cNvPr id="267" name="Rounded Rectangle 266"/>
          <p:cNvSpPr/>
          <p:nvPr/>
        </p:nvSpPr>
        <p:spPr>
          <a:xfrm>
            <a:off x="363412" y="8044729"/>
            <a:ext cx="8593603" cy="640080"/>
          </a:xfrm>
          <a:prstGeom prst="roundRect">
            <a:avLst>
              <a:gd name="adj" fmla="val 0"/>
            </a:avLst>
          </a:prstGeom>
          <a:solidFill>
            <a:srgbClr val="75588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4000" b="1" dirty="0">
                <a:solidFill>
                  <a:srgbClr val="ECE6EE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2. Motivations &amp; Objectives</a:t>
            </a:r>
            <a:endParaRPr lang="en-US" sz="4000" b="1" dirty="0">
              <a:solidFill>
                <a:srgbClr val="ECE6EE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8" name="Rounded Rectangle 267"/>
          <p:cNvSpPr/>
          <p:nvPr/>
        </p:nvSpPr>
        <p:spPr>
          <a:xfrm>
            <a:off x="9350013" y="3768504"/>
            <a:ext cx="11155680" cy="640080"/>
          </a:xfrm>
          <a:prstGeom prst="roundRect">
            <a:avLst>
              <a:gd name="adj" fmla="val 0"/>
            </a:avLst>
          </a:prstGeom>
          <a:solidFill>
            <a:srgbClr val="75588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4000" b="1" dirty="0">
                <a:solidFill>
                  <a:srgbClr val="ECE6EE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3. Methodology</a:t>
            </a:r>
            <a:endParaRPr lang="en-US" sz="4000" b="1" dirty="0">
              <a:solidFill>
                <a:srgbClr val="ECE6EE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9" name="Rounded Rectangle 268"/>
          <p:cNvSpPr/>
          <p:nvPr/>
        </p:nvSpPr>
        <p:spPr>
          <a:xfrm>
            <a:off x="20953169" y="17343097"/>
            <a:ext cx="11585448" cy="640080"/>
          </a:xfrm>
          <a:prstGeom prst="roundRect">
            <a:avLst>
              <a:gd name="adj" fmla="val 0"/>
            </a:avLst>
          </a:prstGeom>
          <a:solidFill>
            <a:srgbClr val="75588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4000" b="1" dirty="0">
                <a:solidFill>
                  <a:srgbClr val="ECE6EE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5. Conclusion &amp; Future Work</a:t>
            </a:r>
            <a:endParaRPr lang="en-US" sz="4000" b="1" dirty="0">
              <a:solidFill>
                <a:srgbClr val="ECE6EE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0" name="Rounded Rectangle 269"/>
          <p:cNvSpPr/>
          <p:nvPr/>
        </p:nvSpPr>
        <p:spPr>
          <a:xfrm>
            <a:off x="20953169" y="3768504"/>
            <a:ext cx="11570308" cy="640080"/>
          </a:xfrm>
          <a:prstGeom prst="roundRect">
            <a:avLst>
              <a:gd name="adj" fmla="val 0"/>
            </a:avLst>
          </a:prstGeom>
          <a:solidFill>
            <a:srgbClr val="755882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r>
              <a:rPr lang="en-US" altLang="en-US" sz="4000" b="1" dirty="0">
                <a:solidFill>
                  <a:srgbClr val="ECE6EE"/>
                </a:solidFill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4. Experimental Results</a:t>
            </a:r>
            <a:endParaRPr lang="en-US" sz="4000" b="1" dirty="0">
              <a:solidFill>
                <a:srgbClr val="ECE6EE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86" name="Picture 285"/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rgbClr val="9274A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241" b="15334"/>
          <a:stretch/>
        </p:blipFill>
        <p:spPr>
          <a:xfrm>
            <a:off x="28826197" y="21202366"/>
            <a:ext cx="577836" cy="401158"/>
          </a:xfrm>
          <a:prstGeom prst="rect">
            <a:avLst/>
          </a:prstGeom>
        </p:spPr>
      </p:pic>
      <p:sp>
        <p:nvSpPr>
          <p:cNvPr id="287" name="Rectangle 286"/>
          <p:cNvSpPr/>
          <p:nvPr/>
        </p:nvSpPr>
        <p:spPr>
          <a:xfrm>
            <a:off x="29391642" y="21077647"/>
            <a:ext cx="38408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MY" sz="3200" dirty="0" err="1">
                <a:solidFill>
                  <a:srgbClr val="423149"/>
                </a:solidFill>
                <a:latin typeface="Cambria" panose="02040503050406030204" pitchFamily="18" charset="0"/>
              </a:rPr>
              <a:t>johndoe@edu</a:t>
            </a:r>
            <a:r>
              <a:rPr lang="en-MY" sz="3200" dirty="0">
                <a:solidFill>
                  <a:srgbClr val="423149"/>
                </a:solidFill>
                <a:latin typeface="Cambria" panose="02040503050406030204" pitchFamily="18" charset="0"/>
              </a:rPr>
              <a:t> </a:t>
            </a:r>
            <a:endParaRPr lang="en-US" sz="3200" dirty="0">
              <a:solidFill>
                <a:srgbClr val="423149"/>
              </a:solidFill>
              <a:latin typeface="Cambria" panose="02040503050406030204" pitchFamily="18" charset="0"/>
            </a:endParaRPr>
          </a:p>
        </p:txBody>
      </p:sp>
      <p:sp>
        <p:nvSpPr>
          <p:cNvPr id="288" name="Rectangle 287"/>
          <p:cNvSpPr/>
          <p:nvPr/>
        </p:nvSpPr>
        <p:spPr>
          <a:xfrm>
            <a:off x="20976086" y="20792208"/>
            <a:ext cx="2045303" cy="4862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MY" sz="3200" b="1" dirty="0">
                <a:solidFill>
                  <a:srgbClr val="423149"/>
                </a:solidFill>
                <a:latin typeface="Cambria" panose="02040503050406030204" pitchFamily="18" charset="0"/>
              </a:rPr>
              <a:t>Presenter</a:t>
            </a:r>
            <a:endParaRPr lang="en-US" sz="3200" dirty="0">
              <a:solidFill>
                <a:srgbClr val="423149"/>
              </a:solidFill>
              <a:latin typeface="Cambria" panose="02040503050406030204" pitchFamily="18" charset="0"/>
            </a:endParaRPr>
          </a:p>
        </p:txBody>
      </p:sp>
      <p:cxnSp>
        <p:nvCxnSpPr>
          <p:cNvPr id="290" name="Straight Connector 289"/>
          <p:cNvCxnSpPr/>
          <p:nvPr/>
        </p:nvCxnSpPr>
        <p:spPr>
          <a:xfrm>
            <a:off x="20975675" y="20614157"/>
            <a:ext cx="11430000" cy="0"/>
          </a:xfrm>
          <a:prstGeom prst="line">
            <a:avLst/>
          </a:prstGeom>
          <a:ln w="19050">
            <a:solidFill>
              <a:srgbClr val="9274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Down Arrow 293"/>
          <p:cNvSpPr/>
          <p:nvPr/>
        </p:nvSpPr>
        <p:spPr>
          <a:xfrm>
            <a:off x="371039" y="16242780"/>
            <a:ext cx="8582083" cy="985239"/>
          </a:xfrm>
          <a:prstGeom prst="downArrow">
            <a:avLst>
              <a:gd name="adj1" fmla="val 100000"/>
              <a:gd name="adj2" fmla="val 55783"/>
            </a:avLst>
          </a:prstGeom>
          <a:gradFill flip="none" rotWithShape="1">
            <a:gsLst>
              <a:gs pos="2000">
                <a:srgbClr val="A48BAF"/>
              </a:gs>
              <a:gs pos="100000">
                <a:srgbClr val="E1D9E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1440" tIns="0" rIns="91440" bIns="91440" anchor="ctr" anchorCtr="0"/>
          <a:lstStyle/>
          <a:p>
            <a:pPr algn="ctr"/>
            <a:endParaRPr lang="en-US" sz="7000" b="1">
              <a:solidFill>
                <a:schemeClr val="bg1"/>
              </a:solidFill>
              <a:latin typeface="Cambria" panose="020405030504060302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20810624" y="4432444"/>
            <a:ext cx="525805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rgbClr val="654C70"/>
              </a:buClr>
              <a:buSzPct val="125000"/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423149"/>
                </a:solidFill>
                <a:latin typeface="Cambria" panose="02040503050406030204" pitchFamily="18" charset="0"/>
              </a:rPr>
              <a:t>Qualitative Results:</a:t>
            </a:r>
            <a:br>
              <a:rPr lang="en-US" sz="3000" b="1" dirty="0">
                <a:solidFill>
                  <a:srgbClr val="423149"/>
                </a:solidFill>
                <a:latin typeface="Cambria" panose="02040503050406030204" pitchFamily="18" charset="0"/>
              </a:rPr>
            </a:br>
            <a:br>
              <a:rPr lang="en-US" sz="3000" b="1" dirty="0">
                <a:solidFill>
                  <a:srgbClr val="423149"/>
                </a:solidFill>
                <a:latin typeface="Cambria" panose="02040503050406030204" pitchFamily="18" charset="0"/>
              </a:rPr>
            </a:br>
            <a:br>
              <a:rPr lang="en-US" sz="3000" b="1" dirty="0">
                <a:solidFill>
                  <a:srgbClr val="423149"/>
                </a:solidFill>
                <a:latin typeface="Cambria" panose="02040503050406030204" pitchFamily="18" charset="0"/>
              </a:rPr>
            </a:br>
            <a:endParaRPr lang="en-US" sz="3000" dirty="0">
              <a:solidFill>
                <a:srgbClr val="423149"/>
              </a:solidFill>
              <a:latin typeface="Cambria" panose="02040503050406030204" pitchFamily="18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20842214" y="10010634"/>
            <a:ext cx="1162005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rgbClr val="654C70"/>
              </a:buClr>
              <a:buSzPct val="125000"/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423149"/>
                </a:solidFill>
                <a:latin typeface="Cambria" panose="02040503050406030204" pitchFamily="18" charset="0"/>
              </a:rPr>
              <a:t>Quantitative Results:</a:t>
            </a:r>
            <a:endParaRPr lang="en-US" sz="3000" dirty="0">
              <a:solidFill>
                <a:srgbClr val="423149"/>
              </a:solidFill>
              <a:latin typeface="Cambria" panose="02040503050406030204" pitchFamily="18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9291122" y="4486220"/>
            <a:ext cx="7391362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rgbClr val="654C70"/>
              </a:buClr>
              <a:buSzPct val="125000"/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423149"/>
                </a:solidFill>
                <a:latin typeface="Cambria" panose="02040503050406030204" pitchFamily="18" charset="0"/>
              </a:rPr>
              <a:t>A: Experiment Design</a:t>
            </a:r>
          </a:p>
          <a:p>
            <a:pPr marL="342900" indent="-342900">
              <a:buClr>
                <a:srgbClr val="654C7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Experiment design — 2×2: model × condition</a:t>
            </a:r>
          </a:p>
          <a:p>
            <a:pPr marL="342900" indent="-342900">
              <a:buClr>
                <a:srgbClr val="654C7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Model selection — Haiku-4.5 vs. Qwen3-8B </a:t>
            </a:r>
          </a:p>
          <a:p>
            <a:pPr marL="342900" indent="-342900">
              <a:buClr>
                <a:srgbClr val="654C7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Input conditions — vision-only / </a:t>
            </a:r>
            <a:r>
              <a:rPr lang="en-US" altLang="en-US" sz="2400" dirty="0" err="1">
                <a:latin typeface="Arial" panose="020B0604020202020204" pitchFamily="34" charset="0"/>
              </a:rPr>
              <a:t>vision+text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342900" indent="-342900">
              <a:buClr>
                <a:srgbClr val="654C70"/>
              </a:buClr>
              <a:buSzPct val="1250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Datasets — </a:t>
            </a:r>
            <a:r>
              <a:rPr lang="en-US" altLang="en-US" sz="2400" dirty="0" err="1">
                <a:latin typeface="Arial" panose="020B0604020202020204" pitchFamily="34" charset="0"/>
              </a:rPr>
              <a:t>Misviz</a:t>
            </a:r>
            <a:r>
              <a:rPr lang="en-US" altLang="en-US" sz="2400" dirty="0">
                <a:latin typeface="Arial" panose="020B0604020202020204" pitchFamily="34" charset="0"/>
              </a:rPr>
              <a:t> (2,077) + SEC 13 filings</a:t>
            </a:r>
          </a:p>
          <a:p>
            <a:pPr marL="571500" indent="-571500">
              <a:buClr>
                <a:srgbClr val="654C70"/>
              </a:buClr>
              <a:buSzPct val="125000"/>
              <a:buFont typeface="Wingdings" panose="05000000000000000000" pitchFamily="2" charset="2"/>
              <a:buChar char="v"/>
            </a:pPr>
            <a:endParaRPr lang="en-US" sz="3000" dirty="0">
              <a:solidFill>
                <a:srgbClr val="423149"/>
              </a:solidFill>
              <a:latin typeface="Cambria" panose="02040503050406030204" pitchFamily="18" charset="0"/>
            </a:endParaRPr>
          </a:p>
          <a:p>
            <a:pPr marL="571500" indent="-571500">
              <a:buClr>
                <a:srgbClr val="654C70"/>
              </a:buClr>
              <a:buSzPct val="125000"/>
              <a:buFont typeface="Wingdings" panose="05000000000000000000" pitchFamily="2" charset="2"/>
              <a:buChar char="v"/>
            </a:pPr>
            <a:endParaRPr lang="en-US" sz="3000" dirty="0">
              <a:solidFill>
                <a:srgbClr val="423149"/>
              </a:solidFill>
              <a:latin typeface="Cambria" panose="02040503050406030204" pitchFamily="18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9321557" y="8820260"/>
            <a:ext cx="8259732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rgbClr val="654C70"/>
              </a:buClr>
              <a:buSzPct val="125000"/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423149"/>
                </a:solidFill>
                <a:latin typeface="Cambria" panose="02040503050406030204" pitchFamily="18" charset="0"/>
              </a:rPr>
              <a:t>B: VLM Inference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Vision-only: chart image → prompt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latin typeface="Arial" panose="020B0604020202020204" pitchFamily="34" charset="0"/>
              </a:rPr>
              <a:t>Vision+text</a:t>
            </a:r>
            <a:r>
              <a:rPr lang="en-US" altLang="en-US" sz="2400" dirty="0">
                <a:latin typeface="Arial" panose="020B0604020202020204" pitchFamily="34" charset="0"/>
              </a:rPr>
              <a:t>: chart image + </a:t>
            </a:r>
            <a:r>
              <a:rPr lang="en-US" altLang="en-US" sz="2400" dirty="0" err="1">
                <a:latin typeface="Arial" panose="020B0604020202020204" pitchFamily="34" charset="0"/>
              </a:rPr>
              <a:t>bbox</a:t>
            </a:r>
            <a:r>
              <a:rPr lang="en-US" altLang="en-US" sz="2400" dirty="0">
                <a:latin typeface="Arial" panose="020B0604020202020204" pitchFamily="34" charset="0"/>
              </a:rPr>
              <a:t> coords → prompt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Arial" panose="020B0604020202020204" pitchFamily="34" charset="0"/>
              </a:rPr>
              <a:t>12 misleader definitions in prompt 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 err="1">
                <a:latin typeface="Arial" panose="020B0604020202020204" pitchFamily="34" charset="0"/>
              </a:rPr>
              <a:t>OpenRouter</a:t>
            </a:r>
            <a:r>
              <a:rPr lang="en-US" altLang="en-US" sz="2400" dirty="0">
                <a:latin typeface="Arial" panose="020B0604020202020204" pitchFamily="34" charset="0"/>
              </a:rPr>
              <a:t> API, 16 workers, 30s timeout</a:t>
            </a:r>
          </a:p>
          <a:p>
            <a:pPr marL="571500" indent="-571500">
              <a:buClr>
                <a:srgbClr val="654C70"/>
              </a:buClr>
              <a:buSzPct val="125000"/>
              <a:buFont typeface="Wingdings" panose="05000000000000000000" pitchFamily="2" charset="2"/>
              <a:buChar char="v"/>
            </a:pPr>
            <a:endParaRPr lang="en-US" sz="3000" b="1" dirty="0">
              <a:solidFill>
                <a:srgbClr val="423149"/>
              </a:solidFill>
              <a:latin typeface="Cambria" panose="02040503050406030204" pitchFamily="18" charset="0"/>
            </a:endParaRPr>
          </a:p>
          <a:p>
            <a:pPr marL="571500" indent="-571500">
              <a:buClr>
                <a:srgbClr val="654C70"/>
              </a:buClr>
              <a:buSzPct val="125000"/>
              <a:buFont typeface="Wingdings" panose="05000000000000000000" pitchFamily="2" charset="2"/>
              <a:buChar char="v"/>
            </a:pPr>
            <a:endParaRPr lang="en-US" sz="3000" b="1" dirty="0">
              <a:solidFill>
                <a:srgbClr val="423149"/>
              </a:solidFill>
              <a:latin typeface="Cambria" panose="02040503050406030204" pitchFamily="18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9368887" y="11202260"/>
            <a:ext cx="7155075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rgbClr val="654C70"/>
              </a:buClr>
              <a:buSzPct val="125000"/>
              <a:buFont typeface="Wingdings" panose="05000000000000000000" pitchFamily="2" charset="2"/>
              <a:buChar char="v"/>
            </a:pPr>
            <a:r>
              <a:rPr lang="en-US" sz="3000" b="1" dirty="0">
                <a:solidFill>
                  <a:srgbClr val="423149"/>
                </a:solidFill>
                <a:latin typeface="Cambria" panose="02040503050406030204" pitchFamily="18" charset="0"/>
              </a:rPr>
              <a:t>C: Analysis &amp;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Benchmark evaluation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400" dirty="0"/>
              <a:t>F1, accuracy per misleader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400" dirty="0"/>
              <a:t>2×2 model × condition comparison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SEC application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400" dirty="0"/>
              <a:t>Pipeline applied to 13 SEC 10-K filings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400" dirty="0"/>
              <a:t>Flag Non-GAAP violations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Ground truth validation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400" dirty="0"/>
              <a:t>vs. SEC comment letter ground truth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400" dirty="0"/>
              <a:t>Per-company error analysis</a:t>
            </a:r>
          </a:p>
          <a:p>
            <a:pPr marL="571500" indent="-571500">
              <a:buClr>
                <a:srgbClr val="654C70"/>
              </a:buClr>
              <a:buSzPct val="125000"/>
              <a:buFont typeface="Wingdings" panose="05000000000000000000" pitchFamily="2" charset="2"/>
              <a:buChar char="v"/>
            </a:pPr>
            <a:endParaRPr lang="en-US" sz="3000" b="1" dirty="0">
              <a:solidFill>
                <a:srgbClr val="423149"/>
              </a:solidFill>
              <a:latin typeface="Cambria" panose="02040503050406030204" pitchFamily="18" charset="0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311840" y="17418043"/>
            <a:ext cx="867951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Clr>
                <a:srgbClr val="654C70"/>
              </a:buClr>
              <a:buSzPct val="125000"/>
              <a:buFont typeface="Wingdings" panose="05000000000000000000" pitchFamily="2" charset="2"/>
              <a:buChar char="v"/>
            </a:pPr>
            <a:endParaRPr lang="en-US" sz="2700" dirty="0">
              <a:solidFill>
                <a:srgbClr val="423149"/>
              </a:solidFill>
              <a:latin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3364537-D8EF-B152-40AC-FE308FE68FF1}"/>
                  </a:ext>
                </a:extLst>
              </p:cNvPr>
              <p:cNvSpPr/>
              <p:nvPr/>
            </p:nvSpPr>
            <p:spPr>
              <a:xfrm>
                <a:off x="9604981" y="2214145"/>
                <a:ext cx="13065596" cy="861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Mengshan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Li</m:t>
                      </m:r>
                      <m:r>
                        <m:rPr>
                          <m:nor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Wenshuang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Zhou</m:t>
                      </m:r>
                      <m:r>
                        <m:rPr>
                          <m:nor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Wu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423149"/>
                          </a:solidFill>
                          <a:latin typeface="Cambria" panose="02040503050406030204" pitchFamily="18" charset="0"/>
                        </a:rPr>
                        <m:t>Tong</m:t>
                      </m:r>
                    </m:oMath>
                  </m:oMathPara>
                </a14:m>
                <a:endParaRPr lang="en-CA" sz="2800" b="0" dirty="0">
                  <a:solidFill>
                    <a:srgbClr val="423149"/>
                  </a:solidFill>
                  <a:latin typeface="Cambria" panose="02040503050406030204" pitchFamily="18" charset="0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CA" sz="2800" dirty="0">
                    <a:solidFill>
                      <a:srgbClr val="423149"/>
                    </a:solidFill>
                    <a:latin typeface="Cambria" panose="02040503050406030204" pitchFamily="18" charset="0"/>
                  </a:rPr>
                  <a:t>Khoury College of Computer Science</a:t>
                </a:r>
                <a:r>
                  <a:rPr lang="en-US" sz="2800" dirty="0">
                    <a:solidFill>
                      <a:srgbClr val="423149"/>
                    </a:solidFill>
                    <a:latin typeface="Cambria" panose="02040503050406030204" pitchFamily="18" charset="0"/>
                  </a:rPr>
                  <a:t>, Northeastern University,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3364537-D8EF-B152-40AC-FE308FE68F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4981" y="2214145"/>
                <a:ext cx="13065596" cy="861775"/>
              </a:xfrm>
              <a:prstGeom prst="rect">
                <a:avLst/>
              </a:prstGeom>
              <a:blipFill>
                <a:blip r:embed="rId4"/>
                <a:stretch>
                  <a:fillRect l="-971" t="-8696" b="-18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26506A2-60EA-B72C-EF66-71B34C21F0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840" y="1556811"/>
            <a:ext cx="5727386" cy="1624023"/>
          </a:xfrm>
          <a:prstGeom prst="rect">
            <a:avLst/>
          </a:prstGeom>
        </p:spPr>
      </p:pic>
      <p:pic>
        <p:nvPicPr>
          <p:cNvPr id="8" name="Picture 7" descr="Northeastern University Guide [Admission Overview] - Ivy Scholars">
            <a:extLst>
              <a:ext uri="{FF2B5EF4-FFF2-40B4-BE49-F238E27FC236}">
                <a16:creationId xmlns:a16="http://schemas.microsoft.com/office/drawing/2014/main" id="{B6787647-77D6-7EE0-5EA3-F0953DB68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6194" y="1161896"/>
            <a:ext cx="2309481" cy="2309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D5336C9-A34E-482B-714B-1ECA5A78CAAF}"/>
                  </a:ext>
                </a:extLst>
              </p:cNvPr>
              <p:cNvSpPr/>
              <p:nvPr/>
            </p:nvSpPr>
            <p:spPr>
              <a:xfrm>
                <a:off x="24368808" y="2178466"/>
                <a:ext cx="5727386" cy="4921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z="280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sty m:val="p"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upervised</m:t>
                      </m:r>
                      <m: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by</m:t>
                      </m:r>
                      <m: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Prof</m:t>
                      </m:r>
                      <m: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Ryan</m:t>
                      </m:r>
                      <m: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2800" b="0" i="0" dirty="0" smtClean="0">
                          <a:solidFill>
                            <a:srgbClr val="423149"/>
                          </a:solidFill>
                          <a:latin typeface="Cambria Math" panose="02040503050406030204" pitchFamily="18" charset="0"/>
                        </a:rPr>
                        <m:t>Rad</m:t>
                      </m:r>
                    </m:oMath>
                  </m:oMathPara>
                </a14:m>
                <a:endParaRPr lang="en-US" sz="2800" dirty="0">
                  <a:solidFill>
                    <a:srgbClr val="423149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D5336C9-A34E-482B-714B-1ECA5A78CA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8808" y="2178466"/>
                <a:ext cx="5727386" cy="492186"/>
              </a:xfrm>
              <a:prstGeom prst="rect">
                <a:avLst/>
              </a:prstGeom>
              <a:blipFill>
                <a:blip r:embed="rId11"/>
                <a:stretch>
                  <a:fillRect l="-665" t="-5000" b="-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F7FD7E1-CD3A-3147-0F13-C550C2ABCA31}"/>
              </a:ext>
            </a:extLst>
          </p:cNvPr>
          <p:cNvSpPr txBox="1"/>
          <p:nvPr/>
        </p:nvSpPr>
        <p:spPr>
          <a:xfrm>
            <a:off x="371039" y="8684809"/>
            <a:ext cx="8561386" cy="1218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❌ Current Approach</a:t>
            </a:r>
            <a:r>
              <a:rPr lang="en-CA" sz="2400" dirty="0"/>
              <a:t> Manual review of financial charts — slow, subjective, and unscalable across thousands of SEC filings.</a:t>
            </a:r>
          </a:p>
          <a:p>
            <a:endParaRPr lang="en-CA" sz="2400" dirty="0"/>
          </a:p>
          <a:p>
            <a:r>
              <a:rPr lang="en-CA" sz="2400" b="1" dirty="0"/>
              <a:t>✓ Our Approach</a:t>
            </a:r>
            <a:r>
              <a:rPr lang="en-CA" sz="2400" dirty="0"/>
              <a:t> Automated detection using Vision-Language Models (VLMs), evaluated on a standardized benchmark and validated on real SEC filings.</a:t>
            </a:r>
          </a:p>
          <a:p>
            <a:endParaRPr lang="en-CA" sz="2400" dirty="0"/>
          </a:p>
          <a:p>
            <a:r>
              <a:rPr lang="en-CA" sz="2400" b="1" dirty="0"/>
              <a:t>📚 Related Work &amp; Gap</a:t>
            </a:r>
            <a:endParaRPr lang="en-CA" sz="2400" dirty="0"/>
          </a:p>
          <a:p>
            <a:r>
              <a:rPr lang="en-CA" sz="2400" dirty="0" err="1"/>
              <a:t>Misviz</a:t>
            </a:r>
            <a:r>
              <a:rPr lang="en-CA" sz="2400" dirty="0"/>
              <a:t> (</a:t>
            </a:r>
            <a:r>
              <a:rPr lang="en-CA" sz="2400" dirty="0" err="1"/>
              <a:t>Tonglet</a:t>
            </a:r>
            <a:r>
              <a:rPr lang="en-CA" sz="2400" dirty="0"/>
              <a:t> et al., 2025): first large-scale benchmark — but no Claude evaluation, no textual grounding condition</a:t>
            </a:r>
          </a:p>
          <a:p>
            <a:r>
              <a:rPr lang="en-CA" sz="2400" dirty="0" err="1"/>
              <a:t>MisVisFix</a:t>
            </a:r>
            <a:r>
              <a:rPr lang="en-CA" sz="2400" dirty="0"/>
              <a:t> (2025): LLM-based chart correction tool — general web domain only, not financial/SEC</a:t>
            </a:r>
          </a:p>
          <a:p>
            <a:r>
              <a:rPr lang="en-CA" sz="2400" dirty="0"/>
              <a:t>VLMs achieve max </a:t>
            </a:r>
            <a:r>
              <a:rPr lang="en-CA" sz="2400" b="1" dirty="0"/>
              <a:t>30% accuracy</a:t>
            </a:r>
            <a:r>
              <a:rPr lang="en-CA" sz="2400" dirty="0"/>
              <a:t> on misleading element detection (Pandey et al., 2025)</a:t>
            </a:r>
          </a:p>
          <a:p>
            <a:r>
              <a:rPr lang="en-CA" sz="2400" dirty="0"/>
              <a:t>➡️ </a:t>
            </a:r>
            <a:r>
              <a:rPr lang="en-CA" sz="2400" b="1" dirty="0"/>
              <a:t>No existing work</a:t>
            </a:r>
            <a:r>
              <a:rPr lang="en-CA" sz="2400" dirty="0"/>
              <a:t> applies VLM misleading chart detection to SEC compliance</a:t>
            </a:r>
          </a:p>
          <a:p>
            <a:r>
              <a:rPr lang="en-CA" sz="2400" dirty="0"/>
              <a:t>											</a:t>
            </a:r>
          </a:p>
          <a:p>
            <a:r>
              <a:rPr lang="en-CA" sz="2400" dirty="0"/>
              <a:t>											</a:t>
            </a:r>
          </a:p>
          <a:p>
            <a:endParaRPr lang="en-CA" sz="2400" dirty="0"/>
          </a:p>
          <a:p>
            <a:endParaRPr lang="en-CA" sz="2400" dirty="0"/>
          </a:p>
          <a:p>
            <a:endParaRPr lang="en-CA" sz="2400" dirty="0"/>
          </a:p>
          <a:p>
            <a:endParaRPr lang="en-CA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Research Questions</a:t>
            </a:r>
          </a:p>
          <a:p>
            <a:r>
              <a:rPr lang="en-US" sz="2400" b="1" dirty="0"/>
              <a:t>RQ1</a:t>
            </a:r>
            <a:r>
              <a:rPr lang="en-US" sz="2400" dirty="0"/>
              <a:t>: How accurately can VLMs (Claude vs. Qwen3-VL) detect misleading charts across 12 misleader types?</a:t>
            </a:r>
          </a:p>
          <a:p>
            <a:r>
              <a:rPr lang="en-US" sz="2400" b="1" dirty="0"/>
              <a:t>RQ2</a:t>
            </a:r>
            <a:r>
              <a:rPr lang="en-US" sz="2400" dirty="0"/>
              <a:t>: Does providing textual ground-truth context improve detection over vision-only input?</a:t>
            </a:r>
          </a:p>
          <a:p>
            <a:r>
              <a:rPr lang="en-US" sz="2400" b="1" dirty="0"/>
              <a:t>RQ3</a:t>
            </a:r>
            <a:r>
              <a:rPr lang="en-US" sz="2400" dirty="0"/>
              <a:t>: Can validated VLM capabilities detect Non-GAAP violations in real SEC 10-K filings?</a:t>
            </a:r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852873-06DC-53CE-7E75-9E40D3DF6AE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1039" y="14776608"/>
            <a:ext cx="5312231" cy="22922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B0C22CB-D5D8-E51B-B69E-D52A586DFFA4}"/>
              </a:ext>
            </a:extLst>
          </p:cNvPr>
          <p:cNvSpPr txBox="1"/>
          <p:nvPr/>
        </p:nvSpPr>
        <p:spPr>
          <a:xfrm>
            <a:off x="5754428" y="15107132"/>
            <a:ext cx="313725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⚠️ </a:t>
            </a:r>
            <a:r>
              <a:rPr lang="en-CA" sz="2000" i="1" dirty="0"/>
              <a:t>Example: Radial area encoding distorts true proportions — 43% vs. 6% appears far more extreme than 7×</a:t>
            </a:r>
            <a:endParaRPr lang="en-US" sz="2000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B818F6B-70A4-70FD-8E23-88211C26F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739020"/>
              </p:ext>
            </p:extLst>
          </p:nvPr>
        </p:nvGraphicFramePr>
        <p:xfrm>
          <a:off x="10060839" y="6650743"/>
          <a:ext cx="8964580" cy="1613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551">
                  <a:extLst>
                    <a:ext uri="{9D8B030D-6E8A-4147-A177-3AD203B41FA5}">
                      <a16:colId xmlns:a16="http://schemas.microsoft.com/office/drawing/2014/main" val="3700727477"/>
                    </a:ext>
                  </a:extLst>
                </a:gridCol>
                <a:gridCol w="3096416">
                  <a:extLst>
                    <a:ext uri="{9D8B030D-6E8A-4147-A177-3AD203B41FA5}">
                      <a16:colId xmlns:a16="http://schemas.microsoft.com/office/drawing/2014/main" val="832317433"/>
                    </a:ext>
                  </a:extLst>
                </a:gridCol>
                <a:gridCol w="3539613">
                  <a:extLst>
                    <a:ext uri="{9D8B030D-6E8A-4147-A177-3AD203B41FA5}">
                      <a16:colId xmlns:a16="http://schemas.microsoft.com/office/drawing/2014/main" val="1217741689"/>
                    </a:ext>
                  </a:extLst>
                </a:gridCol>
              </a:tblGrid>
              <a:tr h="537925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5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vision-only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58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vison + text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58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824947"/>
                  </a:ext>
                </a:extLst>
              </a:tr>
              <a:tr h="537925"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Claude Haiku-4.5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B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RQ1: Baseline accuracy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B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RQ2: Text grounding effect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B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494302"/>
                  </a:ext>
                </a:extLst>
              </a:tr>
              <a:tr h="537925"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Qwen3-VL-8B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RQ1: Baseline accuracy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9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dirty="0"/>
                        <a:t>RQ2: Text grounding effect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9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650005"/>
                  </a:ext>
                </a:extLst>
              </a:tr>
            </a:tbl>
          </a:graphicData>
        </a:graphic>
      </p:graphicFrame>
      <p:pic>
        <p:nvPicPr>
          <p:cNvPr id="24" name="Picture 23">
            <a:extLst>
              <a:ext uri="{FF2B5EF4-FFF2-40B4-BE49-F238E27FC236}">
                <a16:creationId xmlns:a16="http://schemas.microsoft.com/office/drawing/2014/main" id="{50CBD036-4345-E693-017E-97181A9815C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83667" y="15242352"/>
            <a:ext cx="11100026" cy="583529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168353B-D488-92B6-EDF4-6851CC18C30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969506" y="4862910"/>
            <a:ext cx="11492766" cy="383092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5DE5097-2B81-3504-7B59-D0C0F49853C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952958" y="10533938"/>
            <a:ext cx="6244580" cy="351257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B0CA33A-ADA4-EBC1-BF8C-DDA20AF2B69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976085" y="14131413"/>
            <a:ext cx="6254523" cy="307762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28EC33D-A3F7-5BF5-1742-269258AD18B5}"/>
              </a:ext>
            </a:extLst>
          </p:cNvPr>
          <p:cNvSpPr txBox="1"/>
          <p:nvPr/>
        </p:nvSpPr>
        <p:spPr>
          <a:xfrm>
            <a:off x="27725914" y="10564632"/>
            <a:ext cx="467976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RQ1/RQ2: Claude (77.1%) outperforms Qwen (67.2%) on </a:t>
            </a:r>
            <a:r>
              <a:rPr lang="en-CA" sz="2400" dirty="0" err="1"/>
              <a:t>Misviz</a:t>
            </a:r>
            <a:r>
              <a:rPr lang="en-CA" sz="2400" dirty="0"/>
              <a:t>. </a:t>
            </a:r>
            <a:r>
              <a:rPr lang="en-CA" sz="2400" dirty="0" err="1"/>
              <a:t>Vision+text</a:t>
            </a:r>
            <a:r>
              <a:rPr lang="en-CA" sz="2400" dirty="0"/>
              <a:t> improves precision but reduces recall for both models.</a:t>
            </a:r>
          </a:p>
          <a:p>
            <a:endParaRPr lang="en-CA" sz="2400" dirty="0"/>
          </a:p>
          <a:p>
            <a:endParaRPr lang="en-CA" sz="2400" dirty="0"/>
          </a:p>
          <a:p>
            <a:endParaRPr lang="en-CA" sz="2400" dirty="0"/>
          </a:p>
          <a:p>
            <a:endParaRPr lang="en-CA" sz="2400" dirty="0"/>
          </a:p>
          <a:p>
            <a:endParaRPr lang="en-CA" sz="2400" dirty="0"/>
          </a:p>
          <a:p>
            <a:r>
              <a:rPr lang="en-CA" sz="2400" dirty="0"/>
              <a:t>RQ3: Claude achieves precision=1.0 on SEC filings but low recall, indicating conservative yet reliable flagging. STZ and UPS show highest violation rates.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AC1EA4E-2BE9-96B2-BD23-6BEC27649E7B}"/>
              </a:ext>
            </a:extLst>
          </p:cNvPr>
          <p:cNvSpPr txBox="1"/>
          <p:nvPr/>
        </p:nvSpPr>
        <p:spPr>
          <a:xfrm>
            <a:off x="20914237" y="18055654"/>
            <a:ext cx="1142959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Conclusion</a:t>
            </a:r>
            <a:r>
              <a:rPr lang="en-US" sz="2400" dirty="0"/>
              <a:t>:</a:t>
            </a:r>
          </a:p>
          <a:p>
            <a:r>
              <a:rPr lang="en-US" sz="2400" dirty="0"/>
              <a:t>Claude outperforms Qwen (77.1% vs 67.2%); </a:t>
            </a:r>
            <a:r>
              <a:rPr lang="en-US" sz="2400" dirty="0" err="1"/>
              <a:t>vision+text</a:t>
            </a:r>
            <a:r>
              <a:rPr lang="en-US" sz="2400" dirty="0"/>
              <a:t> improves precision but hurts recall</a:t>
            </a:r>
          </a:p>
          <a:p>
            <a:endParaRPr lang="en-US" sz="2400" dirty="0"/>
          </a:p>
          <a:p>
            <a:r>
              <a:rPr lang="en-US" sz="2400" b="1" dirty="0"/>
              <a:t>Future Work:</a:t>
            </a:r>
          </a:p>
          <a:p>
            <a:r>
              <a:rPr lang="en-US" sz="2400" dirty="0"/>
              <a:t>fine-tune on financial charts; scale SEC coverage; optimize prompt for recall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47011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B905E-490F-CC53-3A8E-066C472201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sz="8800" b="1">
                <a:solidFill>
                  <a:srgbClr val="EF6C00"/>
                </a:solidFill>
                <a:latin typeface="PT Sans Narrow"/>
              </a:rPr>
              <a:t>FinChartAudit: Detecting Misleading Financial Charts with Vision-Language Models and Textual Grounding</a:t>
            </a:r>
            <a:endParaRPr lang="zh-CN" sz="88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7CC793-C21F-B0C7-BA22-ECD0CE5DA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5400"/>
              <a:t>Group 5</a:t>
            </a:r>
          </a:p>
          <a:p>
            <a:r>
              <a:rPr lang="zh-CN" altLang="en-US" sz="5400"/>
              <a:t>Mengshan Li</a:t>
            </a:r>
          </a:p>
          <a:p>
            <a:r>
              <a:rPr lang="zh-CN" altLang="en-US" sz="5400"/>
              <a:t>Wenshuang Zhou</a:t>
            </a:r>
          </a:p>
          <a:p>
            <a:r>
              <a:rPr lang="zh-CN" altLang="en-US" sz="5400"/>
              <a:t>Tong Wu</a:t>
            </a:r>
            <a:endParaRPr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3932417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2F9FE-583F-5F23-154D-6420E587E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9600" b="1">
                <a:solidFill>
                  <a:srgbClr val="EF6C00"/>
                </a:solidFill>
                <a:latin typeface="PT Sans Narrow"/>
              </a:rPr>
              <a:t>Background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9C8A65-763F-9303-F78C-21638ED7C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sz="6600" b="1">
                <a:solidFill>
                  <a:srgbClr val="695D46"/>
                </a:solidFill>
                <a:latin typeface="Open Sans"/>
                <a:cs typeface="Open Sans"/>
              </a:rPr>
              <a:t>86% of S&amp;P 500 companies</a:t>
            </a:r>
            <a:r>
              <a:rPr lang="zh-CN" sz="6600">
                <a:solidFill>
                  <a:srgbClr val="695D46"/>
                </a:solidFill>
                <a:latin typeface="Open Sans"/>
                <a:cs typeface="Open Sans"/>
              </a:rPr>
              <a:t> include at least one misleading chart in their annual reports — truncated axes, selective time windows, or Non-GAAP metrics presented without GAAP context. </a:t>
            </a:r>
            <a:endParaRPr lang="zh-CN" altLang="en-US" sz="6600"/>
          </a:p>
          <a:p>
            <a:pPr>
              <a:buSzPct val="114999"/>
            </a:pPr>
            <a:r>
              <a:rPr lang="zh-CN" sz="6600">
                <a:solidFill>
                  <a:srgbClr val="695D46"/>
                </a:solidFill>
                <a:latin typeface="Open Sans"/>
                <a:cs typeface="Open Sans"/>
              </a:rPr>
              <a:t>Non-GAAP prominence has been the </a:t>
            </a:r>
            <a:r>
              <a:rPr lang="zh-CN" sz="6600" b="1">
                <a:solidFill>
                  <a:srgbClr val="695D46"/>
                </a:solidFill>
                <a:latin typeface="Open Sans"/>
                <a:cs typeface="Open Sans"/>
              </a:rPr>
              <a:t>#1 SEC comment letter topic for 9 consecutive years</a:t>
            </a:r>
            <a:r>
              <a:rPr lang="zh-CN" sz="6600">
                <a:solidFill>
                  <a:srgbClr val="695D46"/>
                </a:solidFill>
                <a:latin typeface="Open Sans"/>
                <a:cs typeface="Open Sans"/>
              </a:rPr>
              <a:t>, yet detection remains entirely manual. </a:t>
            </a:r>
            <a:endParaRPr lang="zh-CN" sz="6600"/>
          </a:p>
          <a:p>
            <a:pPr>
              <a:buSzPct val="114999"/>
            </a:pPr>
            <a:r>
              <a:rPr lang="zh-CN" sz="6600" dirty="0">
                <a:solidFill>
                  <a:srgbClr val="695D46"/>
                </a:solidFill>
                <a:latin typeface="Open Sans"/>
                <a:cs typeface="Open Sans"/>
              </a:rPr>
              <a:t>No existing work evaluates whether </a:t>
            </a:r>
            <a:r>
              <a:rPr lang="zh-CN" sz="6600" b="1" dirty="0">
                <a:solidFill>
                  <a:srgbClr val="695D46"/>
                </a:solidFill>
                <a:latin typeface="Open Sans"/>
                <a:cs typeface="Open Sans"/>
              </a:rPr>
              <a:t>Vision-Language Models (VLMs)</a:t>
            </a:r>
            <a:r>
              <a:rPr lang="zh-CN" sz="6600" dirty="0">
                <a:solidFill>
                  <a:srgbClr val="695D46"/>
                </a:solidFill>
                <a:latin typeface="Open Sans"/>
                <a:cs typeface="Open Sans"/>
              </a:rPr>
              <a:t> can automate this detection.</a:t>
            </a:r>
            <a:endParaRPr lang="zh-CN" sz="6600" dirty="0"/>
          </a:p>
        </p:txBody>
      </p:sp>
    </p:spTree>
    <p:extLst>
      <p:ext uri="{BB962C8B-B14F-4D97-AF65-F5344CB8AC3E}">
        <p14:creationId xmlns:p14="http://schemas.microsoft.com/office/powerpoint/2010/main" val="3930065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E56D3-C66A-5335-1BB0-0CC0BF9D3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sz="9600" b="1">
                <a:solidFill>
                  <a:srgbClr val="EF6C00"/>
                </a:solidFill>
                <a:latin typeface="PT Sans Narrow"/>
              </a:rPr>
              <a:t>Motivation and Objectives</a:t>
            </a:r>
            <a:endParaRPr lang="zh-CN" sz="96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95717E-9D3B-1472-6985-623315D46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sz="6600" b="1">
                <a:solidFill>
                  <a:srgbClr val="695D46"/>
                </a:solidFill>
                <a:latin typeface="Arial"/>
                <a:cs typeface="Arial"/>
              </a:rPr>
              <a:t>Current Problem</a:t>
            </a:r>
            <a:endParaRPr lang="zh-CN" altLang="en-US" sz="6600"/>
          </a:p>
          <a:p>
            <a:pPr>
              <a:buSzPct val="114999"/>
            </a:pPr>
            <a:r>
              <a:rPr lang="zh-CN" sz="6000">
                <a:solidFill>
                  <a:srgbClr val="695D46"/>
                </a:solidFill>
                <a:latin typeface="Arial"/>
                <a:cs typeface="Arial"/>
              </a:rPr>
              <a:t>Misleading charts are common in financial reports</a:t>
            </a:r>
            <a:endParaRPr lang="zh-CN" sz="6000"/>
          </a:p>
          <a:p>
            <a:pPr>
              <a:buSzPct val="114999"/>
            </a:pPr>
            <a:r>
              <a:rPr lang="zh-CN" sz="6000">
                <a:solidFill>
                  <a:srgbClr val="695D46"/>
                </a:solidFill>
                <a:latin typeface="Arial"/>
                <a:cs typeface="Arial"/>
              </a:rPr>
              <a:t>Detection is manual, slow, and subjective</a:t>
            </a:r>
            <a:endParaRPr lang="zh-CN" sz="6000"/>
          </a:p>
          <a:p>
            <a:pPr>
              <a:buSzPct val="114999"/>
            </a:pPr>
            <a:r>
              <a:rPr lang="zh-CN" sz="6000">
                <a:solidFill>
                  <a:srgbClr val="695D46"/>
                </a:solidFill>
                <a:latin typeface="Arial"/>
                <a:cs typeface="Arial"/>
              </a:rPr>
              <a:t>Not scalable across thousands of SEC filings</a:t>
            </a:r>
            <a:endParaRPr lang="zh-CN" sz="6000"/>
          </a:p>
          <a:p>
            <a:pPr marL="0" indent="0">
              <a:buSzPct val="114999"/>
              <a:buNone/>
            </a:pPr>
            <a:r>
              <a:rPr lang="zh-CN" sz="6600" b="1">
                <a:solidFill>
                  <a:srgbClr val="695D46"/>
                </a:solidFill>
                <a:latin typeface="Arial"/>
                <a:cs typeface="Arial"/>
              </a:rPr>
              <a:t>Our Solution</a:t>
            </a:r>
            <a:endParaRPr lang="zh-CN" sz="6600"/>
          </a:p>
          <a:p>
            <a:pPr>
              <a:buSzPct val="114999"/>
            </a:pPr>
            <a:r>
              <a:rPr lang="zh-CN" sz="6000" dirty="0">
                <a:solidFill>
                  <a:srgbClr val="695D46"/>
                </a:solidFill>
                <a:latin typeface="Arial"/>
                <a:cs typeface="Arial"/>
              </a:rPr>
              <a:t>Use Vision-Language Models (VLMs)</a:t>
            </a:r>
            <a:endParaRPr lang="zh-CN" sz="6000"/>
          </a:p>
          <a:p>
            <a:pPr>
              <a:buSzPct val="114999"/>
            </a:pPr>
            <a:r>
              <a:rPr lang="zh-CN" sz="6000">
                <a:solidFill>
                  <a:srgbClr val="695D46"/>
                </a:solidFill>
                <a:latin typeface="Arial"/>
                <a:cs typeface="Arial"/>
              </a:rPr>
              <a:t>Automatically detect misleading charts</a:t>
            </a:r>
            <a:endParaRPr lang="zh-CN" sz="6000"/>
          </a:p>
          <a:p>
            <a:pPr>
              <a:buSzPct val="114999"/>
            </a:pPr>
            <a:r>
              <a:rPr lang="zh-CN" sz="6000">
                <a:solidFill>
                  <a:srgbClr val="695D46"/>
                </a:solidFill>
                <a:latin typeface="Arial"/>
                <a:cs typeface="Arial"/>
              </a:rPr>
              <a:t>Improve accuracy on SEC filings</a:t>
            </a:r>
            <a:endParaRPr lang="zh-CN" sz="6000"/>
          </a:p>
          <a:p>
            <a:pPr>
              <a:buSzPct val="114999"/>
            </a:pPr>
            <a:r>
              <a:rPr lang="zh-CN" sz="6000">
                <a:solidFill>
                  <a:srgbClr val="695D46"/>
                </a:solidFill>
                <a:latin typeface="Arial"/>
                <a:cs typeface="Arial"/>
              </a:rPr>
              <a:t>Enable scalable compliance checking</a:t>
            </a:r>
            <a:endParaRPr lang="zh-CN" sz="5400"/>
          </a:p>
        </p:txBody>
      </p:sp>
    </p:spTree>
    <p:extLst>
      <p:ext uri="{BB962C8B-B14F-4D97-AF65-F5344CB8AC3E}">
        <p14:creationId xmlns:p14="http://schemas.microsoft.com/office/powerpoint/2010/main" val="182140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E61F402-3445-458A-9A2B-D28FD2883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2910170" cy="2194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673C096-95AE-4644-B76C-1DF1B667D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487" y="0"/>
            <a:ext cx="33020897" cy="21939884"/>
            <a:chOff x="-15736" y="0"/>
            <a:chExt cx="12229962" cy="685621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7A91835-418B-4867-87D7-1376A57F3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B511A1-E0EC-49FE-8068-9DA29CD0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A61BC5F-ADA4-4DBA-9C6B-E17E0B82E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CE6F7D2-ACED-47D2-BEFD-FB26F7537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2B6B8194-EC6D-7B90-DDCF-32437022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7585" y="3142822"/>
            <a:ext cx="9882151" cy="4241194"/>
          </a:xfrm>
        </p:spPr>
        <p:txBody>
          <a:bodyPr anchor="b">
            <a:normAutofit/>
          </a:bodyPr>
          <a:lstStyle/>
          <a:p>
            <a:r>
              <a:rPr lang="zh-CN" sz="8300" b="1">
                <a:solidFill>
                  <a:srgbClr val="262626"/>
                </a:solidFill>
                <a:latin typeface="PT Sans Narrow"/>
              </a:rPr>
              <a:t>Progress So Far</a:t>
            </a:r>
            <a:endParaRPr lang="zh-CN" sz="8300">
              <a:solidFill>
                <a:srgbClr val="262626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E880E9-2B86-4CDB-B5B7-308745CDD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7582" y="7682044"/>
            <a:ext cx="98821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DE18D5-9791-5C85-E722-0E40F46FB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7582" y="7980076"/>
            <a:ext cx="9882154" cy="10822701"/>
          </a:xfrm>
        </p:spPr>
        <p:txBody>
          <a:bodyPr>
            <a:normAutofit/>
          </a:bodyPr>
          <a:lstStyle/>
          <a:p>
            <a:r>
              <a:rPr lang="zh-CN" sz="4700">
                <a:solidFill>
                  <a:srgbClr val="262626"/>
                </a:solidFill>
                <a:latin typeface="Open Sans"/>
                <a:cs typeface="Open Sans"/>
              </a:rPr>
              <a:t>Completed experiment setup, including model selection and dataset construction</a:t>
            </a:r>
            <a:endParaRPr lang="zh-CN" altLang="en-US" sz="4700">
              <a:solidFill>
                <a:srgbClr val="262626"/>
              </a:solidFill>
            </a:endParaRPr>
          </a:p>
          <a:p>
            <a:pPr>
              <a:buSzPct val="114999"/>
            </a:pPr>
            <a:r>
              <a:rPr lang="zh-CN" sz="4700">
                <a:solidFill>
                  <a:srgbClr val="262626"/>
                </a:solidFill>
                <a:latin typeface="Open Sans"/>
                <a:cs typeface="Open Sans"/>
              </a:rPr>
              <a:t>Implemented the VLM pipeline and applied it to SEC filings</a:t>
            </a:r>
            <a:endParaRPr lang="zh-CN" sz="4700">
              <a:solidFill>
                <a:srgbClr val="262626"/>
              </a:solidFill>
            </a:endParaRPr>
          </a:p>
          <a:p>
            <a:pPr>
              <a:buSzPct val="114999"/>
            </a:pPr>
            <a:r>
              <a:rPr lang="zh-CN" sz="4700">
                <a:solidFill>
                  <a:srgbClr val="262626"/>
                </a:solidFill>
                <a:latin typeface="Open Sans"/>
                <a:cs typeface="Open Sans"/>
              </a:rPr>
              <a:t>Obtained initial evaluation results using accuracy and F1 </a:t>
            </a:r>
            <a:endParaRPr lang="zh-CN" sz="4700">
              <a:solidFill>
                <a:srgbClr val="262626"/>
              </a:solidFill>
            </a:endParaRPr>
          </a:p>
        </p:txBody>
      </p:sp>
      <p:pic>
        <p:nvPicPr>
          <p:cNvPr id="5" name="Picture 23" descr="图示&#10;&#10;AI 生成的内容可能不正确。">
            <a:extLst>
              <a:ext uri="{FF2B5EF4-FFF2-40B4-BE49-F238E27FC236}">
                <a16:creationId xmlns:a16="http://schemas.microsoft.com/office/drawing/2014/main" id="{E90DC527-9766-C5DA-A24E-BBC634AF6F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3" y="6837879"/>
            <a:ext cx="14767558" cy="8269832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385134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9ABC51-1A7F-D2D3-3656-1B6FB13D4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3C0223B-75CE-76B2-3276-D8AE3630A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718" y="2929080"/>
            <a:ext cx="24475442" cy="4172374"/>
          </a:xfrm>
        </p:spPr>
        <p:txBody>
          <a:bodyPr>
            <a:normAutofit/>
          </a:bodyPr>
          <a:lstStyle/>
          <a:p>
            <a:r>
              <a:rPr lang="en-US" altLang="zh-CN" sz="9600" b="1" dirty="0">
                <a:solidFill>
                  <a:srgbClr val="EF6C00"/>
                </a:solidFill>
                <a:latin typeface="PT Sans Narrow"/>
              </a:rPr>
              <a:t>R</a:t>
            </a:r>
            <a:r>
              <a:rPr lang="zh-CN" sz="9600" b="1" dirty="0">
                <a:solidFill>
                  <a:srgbClr val="EF6C00"/>
                </a:solidFill>
                <a:latin typeface="PT Sans Narrow"/>
              </a:rPr>
              <a:t>e</a:t>
            </a:r>
            <a:r>
              <a:rPr lang="en-US" altLang="zh-CN" sz="9600" b="1" dirty="0" err="1">
                <a:solidFill>
                  <a:srgbClr val="EF6C00"/>
                </a:solidFill>
                <a:latin typeface="PT Sans Narrow"/>
              </a:rPr>
              <a:t>sul</a:t>
            </a:r>
            <a:r>
              <a:rPr lang="zh-CN" sz="9600" b="1" dirty="0">
                <a:solidFill>
                  <a:srgbClr val="EF6C00"/>
                </a:solidFill>
                <a:latin typeface="PT Sans Narrow"/>
              </a:rPr>
              <a:t>ts</a:t>
            </a:r>
            <a:endParaRPr lang="zh-CN" sz="9600" dirty="0"/>
          </a:p>
        </p:txBody>
      </p:sp>
    </p:spTree>
    <p:extLst>
      <p:ext uri="{BB962C8B-B14F-4D97-AF65-F5344CB8AC3E}">
        <p14:creationId xmlns:p14="http://schemas.microsoft.com/office/powerpoint/2010/main" val="1674377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749ECD-D92F-8483-377C-8C182829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1809DE45-E0FC-0E9B-A2F4-9D1E03B80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6718" y="2929080"/>
            <a:ext cx="24475442" cy="4172374"/>
          </a:xfrm>
        </p:spPr>
        <p:txBody>
          <a:bodyPr>
            <a:normAutofit/>
          </a:bodyPr>
          <a:lstStyle/>
          <a:p>
            <a:r>
              <a:rPr lang="en-US" altLang="zh-CN" sz="9600" b="1">
                <a:solidFill>
                  <a:srgbClr val="EF6C00"/>
                </a:solidFill>
                <a:latin typeface="PT Sans Narrow"/>
              </a:rPr>
              <a:t>N</a:t>
            </a:r>
            <a:r>
              <a:rPr lang="zh-CN" sz="9600" b="1">
                <a:solidFill>
                  <a:srgbClr val="EF6C00"/>
                </a:solidFill>
                <a:latin typeface="PT Sans Narrow"/>
              </a:rPr>
              <a:t>e</a:t>
            </a:r>
            <a:r>
              <a:rPr lang="en-US" altLang="zh-CN" sz="9600" b="1">
                <a:solidFill>
                  <a:srgbClr val="EF6C00"/>
                </a:solidFill>
                <a:latin typeface="PT Sans Narrow"/>
              </a:rPr>
              <a:t>x</a:t>
            </a:r>
            <a:r>
              <a:rPr lang="zh-CN" sz="9600" b="1">
                <a:solidFill>
                  <a:srgbClr val="EF6C00"/>
                </a:solidFill>
                <a:latin typeface="PT Sans Narrow"/>
              </a:rPr>
              <a:t>t</a:t>
            </a:r>
            <a:r>
              <a:rPr lang="zh-CN" altLang="en-US" sz="9600" b="1" dirty="0">
                <a:solidFill>
                  <a:srgbClr val="EF6C00"/>
                </a:solidFill>
                <a:latin typeface="PT Sans Narrow"/>
              </a:rPr>
              <a:t> </a:t>
            </a:r>
            <a:r>
              <a:rPr lang="en-US" altLang="zh-CN" sz="9600" b="1">
                <a:solidFill>
                  <a:srgbClr val="EF6C00"/>
                </a:solidFill>
                <a:latin typeface="PT Sans Narrow"/>
              </a:rPr>
              <a:t>Steps</a:t>
            </a:r>
            <a:endParaRPr lang="zh-CN" sz="9600"/>
          </a:p>
        </p:txBody>
      </p:sp>
    </p:spTree>
    <p:extLst>
      <p:ext uri="{BB962C8B-B14F-4D97-AF65-F5344CB8AC3E}">
        <p14:creationId xmlns:p14="http://schemas.microsoft.com/office/powerpoint/2010/main" val="35798009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a8eec281-aaa3-4dae-ac9b-9a398b9215e7}" enabled="0" method="" siteId="{a8eec281-aaa3-4dae-ac9b-9a398b9215e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14196</TotalTime>
  <Words>609</Words>
  <Application>Microsoft Office PowerPoint</Application>
  <PresentationFormat>自定义</PresentationFormat>
  <Paragraphs>96</Paragraphs>
  <Slides>7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Organic</vt:lpstr>
      <vt:lpstr>PowerPoint 演示文稿</vt:lpstr>
      <vt:lpstr>FinChartAudit: Detecting Misleading Financial Charts with Vision-Language Models and Textual Grounding</vt:lpstr>
      <vt:lpstr>Background</vt:lpstr>
      <vt:lpstr>Motivation and Objectives</vt:lpstr>
      <vt:lpstr>Progress So Far</vt:lpstr>
      <vt:lpstr>Results</vt:lpstr>
      <vt:lpstr>Next Steps</vt:lpstr>
    </vt:vector>
  </TitlesOfParts>
  <Company>Simon Fraser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Reza Moradi Rad</dc:creator>
  <cp:lastModifiedBy>Wenshuang Zhou</cp:lastModifiedBy>
  <cp:revision>402</cp:revision>
  <dcterms:created xsi:type="dcterms:W3CDTF">2016-05-11T20:53:11Z</dcterms:created>
  <dcterms:modified xsi:type="dcterms:W3CDTF">2026-04-03T21:53:37Z</dcterms:modified>
</cp:coreProperties>
</file>